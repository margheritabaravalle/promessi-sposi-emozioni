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1E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PROGETTO D'ESAME — ANALISI COMPUTAZIONALE DEL TESTO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4884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tono della peste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54680"/>
            <a:ext cx="7589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Mappare le emozioni nei Promessi Sposi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3977640"/>
            <a:ext cx="2011680" cy="0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11480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analysis a dizionario applicata capitolo per capitolo, per verificare se il tono emotivo del romanzo rispecchia i suoi momenti narrativi più drammatici.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989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Margherita Baravalle</a:t>
            </a:r>
            <a:endParaRPr lang="en-US" sz="1300" dirty="0"/>
          </a:p>
        </p:txBody>
      </p:sp>
      <p:pic>
        <p:nvPicPr>
          <p:cNvPr id="8" name="Image 0" descr="/mnt/user-data/outputs/ritratto_manzo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8573" y="0"/>
            <a:ext cx="5200379" cy="68580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988573" y="6510528"/>
            <a:ext cx="52003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Francesco Hayez, Ritratto di Alessandro Manzoni, 1841 — Pinacoteca di Brera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progetto di analisi del testo con il supporto dell'IA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860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718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Ambito umanistico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2900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 applica strumenti computazionali a un classico della letteratura italiana, I Promessi Sposi di Alessandro Manzoni.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96596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2860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1772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9718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Codice con Claude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42900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codice Python è stato scritto dialogando con Claude, seguendo il metodo della dispensa del corso: richiesta, esecuzione, ispezione, correzione.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46720" y="196596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22860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6676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97180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 scientifico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429000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Domanda di ricerca, ipotesi, raccolta e pulizia dei dati, verifica quantitativa e confronto con la letteratura di riferimento.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3B1E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DOMANDA DI RICERCA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68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L'andamento emotivo dei capitoli rispecchia</a:t>
            </a:r>
            <a:endParaRPr lang="en-US" sz="27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momenti più drammatici del romanzo?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 automatico di sentiment analysis, per quanto semplice, è in grado di “riconoscere” questi momenti chiave tanto quanto un lettore umano che conosce la trama?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10058400" cy="2514600"/>
          </a:xfrm>
          <a:prstGeom prst="roundRect">
            <a:avLst>
              <a:gd name="adj" fmla="val 3636"/>
            </a:avLst>
          </a:prstGeom>
          <a:solidFill>
            <a:srgbClr val="231238"/>
          </a:solidFill>
          <a:ln w="12700">
            <a:solidFill>
              <a:srgbClr val="5B3A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3520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IPOTESI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931920"/>
            <a:ext cx="9326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capitoli corrispondenti agli eventi narrativamente più drammatici — in particolare i capitoli della peste (XXXI–XXXIV) — mostrano un punteggio emotivo nettamente più negativo rispetto ai capitoli circostanti, e il punteggio torna positivo verso la fine del romanzo, in corrispondenza della risoluzione della trama.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percorso di lavoro, fase per fase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raccolta del testo fino all'estensione sul confronto tra personaggi, ogni fase produce un file ispezionabile prima di passare alla successiva.</a:t>
            </a:r>
            <a:endParaRPr lang="en-US" sz="1300" dirty="0"/>
          </a:p>
        </p:txBody>
      </p:sp>
      <p:pic>
        <p:nvPicPr>
          <p:cNvPr id="5" name="Image 0" descr="/mnt/user-data/outputs/schema_flus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" y="2743200"/>
            <a:ext cx="10607040" cy="220401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–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Procurarsi e pulire il testo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94360" y="1746504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6184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 dei dati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3794760" y="1600200"/>
            <a:ext cx="7818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 completo in un file PDF (edizione Liber Liber), scaricato da un mirror universitario ed estratto con la libreria pypdf. La fonte prevista inizialmente è risultata irraggiungibile: il problema è stato diagnosticato e la fonte sostituita, documentando la scelta.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3227832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09981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Pulizia del testo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3081528"/>
            <a:ext cx="7818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Rimosso il materiale editoriale iniziale e le 309 righe con soli numeri di pagina residui dall'estrazione del PDF, mantenendo separati il testo grezzo e quello pulito.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4360" y="4709160"/>
            <a:ext cx="128016" cy="128016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58114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Segmentazione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794760" y="4562856"/>
            <a:ext cx="7818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testo è stato diviso nei suoi 38 capitoli individuando con un'espressione regolare le intestazioni “CAPITOLO” seguite da un numero romano — numero che corrisponde esattamente ai capitoli reali del romanzo.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viene calcolato il punteggio emotivo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capitolo, il testo viene diviso in parole (tokenizzazione) e confrontato con un dizionario di circa 150 parole italiane, positive e negative, scelto pensando al lessico della narrativa ottocentesca.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8892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scelta tra libreria locale e API di un modello è stata discussa con Claude, confrontando i pro e i contro di ciascuna opzione: la libreria a dizionario è stata preferita per semplicità, trasparenza e assenza di costi.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89320" y="1600200"/>
            <a:ext cx="5669280" cy="4206240"/>
          </a:xfrm>
          <a:prstGeom prst="roundRect">
            <a:avLst>
              <a:gd name="adj" fmla="val 2174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35508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FORMULA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22402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punteggio = (pos − neg) / parole × 1000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28803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conteggio è normalizzato ogni 1000 parole, per rendere confrontabili capitoli di lunghezza molto diversa.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55080" y="3657600"/>
            <a:ext cx="4937760" cy="0"/>
          </a:xfrm>
          <a:prstGeom prst="line">
            <a:avLst/>
          </a:prstGeom>
          <a:noFill/>
          <a:ln w="12700">
            <a:solidFill>
              <a:srgbClr val="3A448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38404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 REALE — CAPITOLO XXXI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355080" y="4206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48463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001000" y="4206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48463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420624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−9,28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9646920" y="48463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punteggio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— RISULTATI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L'andamento emotivo, capitolo per capitolo</a:t>
            </a:r>
            <a:endParaRPr lang="en-US" sz="2500" dirty="0"/>
          </a:p>
        </p:txBody>
      </p:sp>
      <p:pic>
        <p:nvPicPr>
          <p:cNvPr id="4" name="Image 0" descr="/mnt/user-data/uploads/grafico_senti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325880"/>
            <a:ext cx="9052560" cy="387966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388429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5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XXXI–XXXIV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717613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peste: i quattro capitoli più negativi del romanzo (fino a −9,28)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270248" y="5388429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7A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XXXV+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270248" y="5717613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tono torna positivo con l'avvio della risoluzione della trama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991856" y="5388429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XXIII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991856" y="5717613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Punteggio più alto (+6,8): liberazione di Lucia, non previsto in anticipo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ESTENSIONE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percorso emotivo di tre personaggi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le frasi in cui compare il nome di Renzo, Lucia o l'Innominato, e ricalcolato lo stesso punteggio su quel sottoinsieme di testo.</a:t>
            </a:r>
            <a:endParaRPr lang="en-US" sz="1200" dirty="0"/>
          </a:p>
        </p:txBody>
      </p:sp>
      <p:pic>
        <p:nvPicPr>
          <p:cNvPr id="5" name="Image 0" descr="/mnt/user-data/uploads/grafico_personag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" y="1783080"/>
            <a:ext cx="10607040" cy="390945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857124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68680" y="5857124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Capitoli XIX–XXI: 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3154680" y="5857124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l'Innominato tocca il punto più alto (+10,2), poi crolla insieme a Lucia (−6,9 e −9,4) nel capitolo del rapimento e della notte di crisi che precede la sua conversione.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RIGORE METODOLOGICO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 tutti i picchi sono ugualmente affidabili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di trarre conclusioni, è stato verificato quante frasi sostenessero ciascuna osservazione: pochi dati rendono il punteggio molto instabile.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2743200"/>
        </p:xfrm>
        <a:graphic>
          <a:graphicData uri="http://schemas.openxmlformats.org/drawingml/2006/table">
            <a:tbl>
              <a:tblPr/>
              <a:tblGrid>
                <a:gridCol w="4937760"/>
                <a:gridCol w="2011680"/>
                <a:gridCol w="2011680"/>
                <a:gridCol w="210312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Osservazione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Frasi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Affidabilità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Renzo, cap. X (punto basso)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B235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Bassissima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Lucia, cap. V (punto basso)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B235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Bassa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Innominato, cap. XXI (crollo)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B886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Lucia, cap. XXI (crollo)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B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Buona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74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pattern del capitolo XXI, basato su molte più frasi, è anche l'osservazione narrativamente più significativa dell'intera estensione.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LETTERATURA SCIENTIFICA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metodo coerente con la ricerca esistente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984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1488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Reagan et al., 2016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8892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i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emotional arcs of stories are dominated by six basic shapes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931920"/>
            <a:ext cx="4526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analysis lessicale applicata a migliaia di opere letterarie: la maggior parte delle storie segue un numero limitato di “forme” emotive ricorrenti — lo stesso tipo di andamento cercato in questo progetto.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691640"/>
            <a:ext cx="5257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7960" y="20574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37960" y="19842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214884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Rebora, 2020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78892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b="1" i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Emotions in Reading Pirandello. An Experiment with Sentiment Analysis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3931920"/>
            <a:ext cx="4526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Esperimento su un testo letterario italiano, con studenti che annotano manualmente il sentiment di ogni paragrafo: conferma utilità e limiti di questi metodi in lingua italiana.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CONSAPEVOLEZZA CRITICA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limiti del metodo, dichiarati esplicitamente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1929384"/>
            <a:ext cx="2743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2313432"/>
            <a:ext cx="3008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Dizionario limitato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79192"/>
            <a:ext cx="3008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 parole, scelta manuale e non esaustiva del lessico emotivo del romanzo.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204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9432" y="1929384"/>
            <a:ext cx="2743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99432" y="2313432"/>
            <a:ext cx="3008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Nessuna negazione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2679192"/>
            <a:ext cx="3008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“non provava gioia” viene comunque contata come positiva.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204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94192" y="1929384"/>
            <a:ext cx="2743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94192" y="2313432"/>
            <a:ext cx="3008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Nessun contesto o ironia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394192" y="2679192"/>
            <a:ext cx="3008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metodo conta parole isolate, senza capire il senso della frase.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520440"/>
            <a:ext cx="35204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3758184"/>
            <a:ext cx="2743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4142232"/>
            <a:ext cx="3008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Lessico moderno vs. ottocentesco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04672" y="4507992"/>
            <a:ext cx="3008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dizionario riflette l'italiano contemporaneo, non sempre la prosa manzoniana.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43400" y="3520440"/>
            <a:ext cx="35204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9432" y="3758184"/>
            <a:ext cx="2743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99432" y="4142232"/>
            <a:ext cx="3008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metodo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99432" y="4507992"/>
            <a:ext cx="3008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confronto con un secondo metodo indipendente (es. un LLM via API).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138160" y="3520440"/>
            <a:ext cx="352044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94192" y="3758184"/>
            <a:ext cx="2743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94192" y="4142232"/>
            <a:ext cx="30083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Campioni piccoli (estensione)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394192" y="4507992"/>
            <a:ext cx="3008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Alcuni picchi sui personaggi si basano su una sola frase.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B1E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88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Sì, l'andamento del tono emotivo rispecchia</a:t>
            </a:r>
            <a:endParaRPr lang="en-US" sz="3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momenti più drammatici del romanzo.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 automatico anche molto semplice, senza alcuna conoscenza della trama, individua correttamente uno dei momenti più cupi del romanzo. L'estensione sui personaggi rafforza il risultato, individuando anche la crisi dell'Innominato e di Lucia al capitolo XXI — con affidabilità verificata, non solo assunta.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8368" y="4434840"/>
            <a:ext cx="2011680" cy="0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66344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valore del progetto non è la massima accuratezza possibile, ma la comprensione critica di cosa un metodo computazionale può e non può cogliere di un testo letterario.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3B1E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Grazie per l'attenzione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58368" y="3246120"/>
            <a:ext cx="2011680" cy="0"/>
          </a:xfrm>
          <a:prstGeom prst="line">
            <a:avLst/>
          </a:prstGeom>
          <a:noFill/>
          <a:ln w="19050">
            <a:solidFill>
              <a:srgbClr val="C9A22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520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Codice, dati, grafici e documentazione completa: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github.com/margheritabaravalle/promessi-sposi-emozioni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7455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2026-09-20T11:15:27Z</dcterms:created>
  <dcterms:modified xsi:type="dcterms:W3CDTF">2026-09-20T11:15:27Z</dcterms:modified>
</cp:coreProperties>
</file>