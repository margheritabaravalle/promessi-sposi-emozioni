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ritratto_manzon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40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D'ESAME — ANALISI COMPUTAZIONALE DEL TESTO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6517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tono della peste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429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Mappare le emozioni nei Promessi Sposi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" y="4069080"/>
            <a:ext cx="14630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343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a dizionario applicata capitolo per capitolo, per verificare se il tono emotivo del romanzo rispecchia i suoi momenti narrativi più drammatici.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126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Margherita Baravalle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6583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Francesco Hayez, Ritratto di Alessandro Manzoni, 1841 — Pinacoteca di Brera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progetto di analisi del testo con il supporto dell'IA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Ambito umanistico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83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applica strumenti computazionali a un classico della letteratura italiana, I Promessi Sposi di Alessandro Manzoni.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Codice con Claude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383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Python è stato scritto dialogando con Claude, seguendo il metodo della dispensa del corso: richiesta, esecuzione, ispezione, correzione.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96596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381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 scientifico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383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di ricerca, ipotesi, raccolta e pulizia dei dati, verifica quantitativa e confronto con la letteratura di riferimento.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L'ambiente di lavoro: VS Code e Claude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script è stato scritto ed eseguito in Visual Studio Code, con Claude usato come assistente per scrivere, spiegare e correggere il codice passo per passo.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50098" y="2276856"/>
            <a:ext cx="5291499" cy="3630168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15000"/>
              </a:srgbClr>
            </a:outerShdw>
          </a:effectLst>
        </p:spPr>
      </p:sp>
      <p:pic>
        <p:nvPicPr>
          <p:cNvPr id="6" name="Image 0" descr="/mnt/user-data/outputs/screenshot_proget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4962" y="2331720"/>
            <a:ext cx="5181771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016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script analizza_sentiment.py aperto in VS Code: il dizionario di parole positive e negative, costruito a mano, visibile riga per riga nell'editor.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1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DI RICERCA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L'andamento emotivo dei capitoli rispecchia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momenti più drammatici del romanzo?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metodo automatico di sentiment analysis, per quanto semplice, è in grado di “riconoscere” questi momenti chiave tanto quanto un lettore umano che conosce la trama?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0881360" cy="2651760"/>
          </a:xfrm>
          <a:prstGeom prst="roundRect">
            <a:avLst>
              <a:gd name="adj" fmla="val 2069"/>
            </a:avLst>
          </a:prstGeom>
          <a:solidFill>
            <a:srgbClr val="231238"/>
          </a:solidFill>
          <a:ln w="12700">
            <a:solidFill>
              <a:srgbClr val="5B3A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IPOTESI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1188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capitoli corrispondenti agli eventi narrativamente più drammatici — in particolare i capitoli della peste (XXXI–XXXIV) — mostrano un punteggio emotivo nettamente più negativo rispetto ai capitoli circostanti, e il punteggio torna positivo verso la fine del romanzo, in corrispondenza della risoluzione della trama.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percorso di lavoro, fase per fase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raccolta del testo fino all'estensione sul confronto tra personaggi, ogni fase produce un file ispezionabile prima di passare alla successiva.</a:t>
            </a:r>
            <a:endParaRPr lang="en-US" sz="1200" dirty="0"/>
          </a:p>
        </p:txBody>
      </p:sp>
      <p:pic>
        <p:nvPicPr>
          <p:cNvPr id="5" name="Image 0" descr="/mnt/user-data/outputs/schema_flus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10515600" cy="21854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— TENTATIVO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Gutenberg: la fonte prevista non è raggiungibile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consegna indicava Project Gutenberg come fonte del testo. Lo script scarica_testo.py doveva scaricare il file direttamente da gutenberg.org, ma la richiesta non va mai a buon fine — come mostra lo screenshot del terminale.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60624" y="2276856"/>
            <a:ext cx="5870448" cy="2684987"/>
          </a:xfrm>
          <a:prstGeom prst="roundRect">
            <a:avLst>
              <a:gd name="adj" fmla="val 136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27000" dist="38100" dir="5400000">
              <a:srgbClr val="1B1F3B">
                <a:alpha val="18000"/>
              </a:srgbClr>
            </a:outerShdw>
          </a:effectLst>
        </p:spPr>
      </p:sp>
      <p:pic>
        <p:nvPicPr>
          <p:cNvPr id="6" name="Image 0" descr="/mnt/user-data/outputs/screenshot_curl_err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488" y="2331720"/>
            <a:ext cx="5760720" cy="25752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025851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l'errore restituito dal comando curl, prova diretta dell'irraggiungibilità di gutenberg.org dalla rete usata.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5364179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483051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 E DECISIONE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757371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confronto con google.com (raggiungibile) conferma che la rete funziona, ma gutenberg.org non è raggiungibile da qui: non è un problema risolvibile lato codice, si cerca quindi una fonte alternativa.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— TENTATIVO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Scraping da Wikisource: due errori consecutivi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seconda fonte si prova il web scraping della pagina Wikisource dei Promessi Sposi con la libreria BeautifulSoup. Il tentativo fallisce due volte, per motivi diversi.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88900" dist="25400" dir="5400000">
              <a:srgbClr val="1B1F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88920"/>
            <a:ext cx="457200" cy="457200"/>
          </a:xfrm>
          <a:prstGeom prst="ellipse">
            <a:avLst/>
          </a:prstGeom>
          <a:solidFill>
            <a:srgbClr val="3B7A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2788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B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30175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 Forbidden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29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sito blocca le richieste che non sembrano provenire da un browser reale.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470916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9959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3B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Soluzione: aggiunto un header User-Agent personalizzato alla richiesta → il sito risponde 200 OK.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2514600"/>
            <a:ext cx="525780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88900" dist="25400" dir="5400000">
              <a:srgbClr val="1B1F3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788920"/>
            <a:ext cx="457200" cy="457200"/>
          </a:xfrm>
          <a:prstGeom prst="ellipse">
            <a:avLst/>
          </a:prstGeom>
          <a:solidFill>
            <a:srgbClr val="B235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59752" y="2788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59752" y="30175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Nessun testo trovato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429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cerca il testo in un elemento HTML con classe "pagetext", ma la struttura reale della pagina è diversa.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3931920"/>
            <a:ext cx="470916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39959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B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selettore non trova nulla: senza ispezionare l'HTML reale della pagina, il tentativo viene abbandonato.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617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Esito: la fonte viene abbandonata, non per un limite del metodo di scraping in sé, ma per il tempo che avrebbe richiesto correggere il selettore ispezionando manualmente l'HTML della pagina.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– 1 · TENTATIVO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terza fonte, e la preparazione del testo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" cy="1188720"/>
          </a:xfrm>
          <a:prstGeom prst="roundRect">
            <a:avLst>
              <a:gd name="adj" fmla="val 16667"/>
            </a:avLst>
          </a:prstGeom>
          <a:solidFill>
            <a:srgbClr val="3B7A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 dei dati (riuscita)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2199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 completo in un file PDF (edizione Liber Liber), scaricato da un mirror universitario (Politecnico di Torino) ed estratto con la libreria pypdf. Stessa edizione prevista inizialmente, fonte diversa.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09728" cy="11887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Pulizia del testo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63931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Rimosso il materiale editoriale iniziale e le 309 righe con soli numeri di pagina residui dall'estrazione del PDF, mantenendo separati il testo grezzo e quello pulito.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9728" cy="11887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Segmentazione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056632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testo è stato diviso nei suoi 38 capitoli individuando con un'espressione regolare le intestazioni “CAPITOLO” seguite da un numero romano — numero che corrisponde esattamente ai capitoli reali del romanzo.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9153144" y="4690872"/>
            <a:ext cx="2221992" cy="1339242"/>
          </a:xfrm>
          <a:prstGeom prst="roundRect">
            <a:avLst>
              <a:gd name="adj" fmla="val 204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76200" dist="25400" dir="5400000">
              <a:srgbClr val="1B1F3B">
                <a:alpha val="15000"/>
              </a:srgbClr>
            </a:outerShdw>
          </a:effectLst>
        </p:spPr>
      </p:sp>
      <p:pic>
        <p:nvPicPr>
          <p:cNvPr id="14" name="Image 0" descr="/mnt/user-data/outputs/screenshot_capito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4727448"/>
            <a:ext cx="2148840" cy="126609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189720" y="603011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capitoli.json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viene calcolato il punteggio emotivo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capitolo, il testo viene diviso in parole (tokenizzazione) e confrontato con un dizionario di circa 150 parole italiane, positive e negative, scelto pensando al lessico della narrativa ottocentesca.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957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scelta tra libreria locale e API di un modello è stata discussa con Claude, confrontando i pro e i contro di ciascuna opzione: la libreria a dizionario è stata preferita per semplicità, trasparenza e assenza di costi.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5212080" cy="2926080"/>
          </a:xfrm>
          <a:prstGeom prst="roundRect">
            <a:avLst>
              <a:gd name="adj" fmla="val 1875"/>
            </a:avLst>
          </a:prstGeom>
          <a:solidFill>
            <a:srgbClr val="3B1E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FORMULA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 − neg) ÷ parole del capitolo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 × 1000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177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divide per il numero totale di parole di quel capitolo: così capitoli lunghi e corti sono confrontabili.</a:t>
            </a: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× 1000 serve solo per comodità: −0,00928 diventa −9,28, un numero più facile da leggere.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172200" y="324612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3429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REALE — CAPITOLO XXXI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840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7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3840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3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921240" y="3840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6251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92124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parole totali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capitolo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5029200"/>
            <a:ext cx="4892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206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(16 − 74) ÷ 6251 = −0,00928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1000 = </a:t>
            </a:r>
            <a:pPr algn="ctr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−9,28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RISULTATI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L'andamento emotivo, capitolo per capitolo</a:t>
            </a:r>
            <a:endParaRPr lang="en-US" sz="2600" dirty="0"/>
          </a:p>
        </p:txBody>
      </p:sp>
      <p:pic>
        <p:nvPicPr>
          <p:cNvPr id="4" name="Image 0" descr="/mnt/user-data/outputs/grafico_sent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91640"/>
            <a:ext cx="9052560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715000"/>
            <a:ext cx="3154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5715000"/>
            <a:ext cx="73152" cy="914400"/>
          </a:xfrm>
          <a:prstGeom prst="roundRect">
            <a:avLst/>
          </a:prstGeom>
          <a:solidFill>
            <a:srgbClr val="B2352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5779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XXXI–XXXIV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035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peste: i quattro capitoli più negativi del romanzo (fino a −9,28)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4434840" y="5715000"/>
            <a:ext cx="3154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5715000"/>
            <a:ext cx="73152" cy="914400"/>
          </a:xfrm>
          <a:prstGeom prst="roundRect">
            <a:avLst/>
          </a:prstGeom>
          <a:solidFill>
            <a:srgbClr val="3B7A5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17720" y="5779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7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XXXV+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6035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tono torna positivo con l'avvio della risoluzione della trama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8229600" y="5715000"/>
            <a:ext cx="3154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0" y="5715000"/>
            <a:ext cx="73152" cy="9144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412480" y="5779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XXIII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6035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Punteggio più alto (+6,8): liberazione di Lucia, non previsto in anticipo</a:t>
            </a:r>
            <a:endParaRPr lang="en-US" sz="880" dirty="0"/>
          </a:p>
        </p:txBody>
      </p:sp>
      <p:sp>
        <p:nvSpPr>
          <p:cNvPr id="17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LETTERATURA SCIENTIFICA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metodo coerente con la ricerca esistente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88900" dist="25400" dir="5400000">
              <a:srgbClr val="1B1F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40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Reagan et al., 2016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26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arcs of stories are dominated by six basic shapes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3703320"/>
            <a:ext cx="461772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84048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3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lessicale applicata a migliaia di opere letterarie: la maggior parte delle storie segue un numero limitato di “forme” emotive ricorrenti — lo stesso tipo di andamento cercato in questo progetto.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25780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88900" dist="25400" dir="5400000">
              <a:srgbClr val="1B1F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240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Rebora, 2020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926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Emotions in Reading Pirandello. An Experiment with Sentiment Analysis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3703320"/>
            <a:ext cx="461772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384048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3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Esperimento su un testo letterario italiano, con studenti che annotano manualmente il sentiment di ogni paragrafo: conferma utilità e limiti di questi metodi in lingua italiana.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ESTENSIONE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percorso emotivo di tre personaggi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le frasi in cui compare il nome di Renzo, Lucia o l'Innominato, e ricalcolato lo stesso punteggio su quel sottoinsieme di testo.</a:t>
            </a:r>
            <a:endParaRPr lang="en-US" sz="1200" dirty="0"/>
          </a:p>
        </p:txBody>
      </p:sp>
      <p:pic>
        <p:nvPicPr>
          <p:cNvPr id="5" name="Image 0" descr="/mnt/user-data/outputs/grafico_personag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7955280" cy="34107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06840" y="2194560"/>
            <a:ext cx="2514600" cy="3410712"/>
          </a:xfrm>
          <a:prstGeom prst="roundRect">
            <a:avLst>
              <a:gd name="adj" fmla="val 2182"/>
            </a:avLst>
          </a:prstGeom>
          <a:solidFill>
            <a:srgbClr val="3B1E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23544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CAPITOLI XIX–XXI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235440" y="292608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L'Innominato tocca il punto più alto (+10,2), poi crolla insieme a Lucia (−6,9 e −9,4) nel capitolo del rapimento e della notte di crisi che precede la sua conversione.</a:t>
            </a:r>
            <a:endParaRPr lang="en-US" sz="108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RIGORE METODOLOGICO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tutti i picchi sono ugualmente affidabili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di trarre conclusioni, è stato verificato quante frasi sostenessero ciascuna osservazione: pochi dati rendono il punteggio molto instabile.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10881360" cy="2377440"/>
        </p:xfrm>
        <a:graphic>
          <a:graphicData uri="http://schemas.openxmlformats.org/drawingml/2006/table">
            <a:tbl>
              <a:tblPr/>
              <a:tblGrid>
                <a:gridCol w="4937760"/>
                <a:gridCol w="1984248"/>
                <a:gridCol w="1984248"/>
                <a:gridCol w="197510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Osservazione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Affidabilità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Renzo, cap. X (punto basso)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Bassissima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Lucia, cap. V (punto basso)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Innominato, cap. XXI (crollo)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8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Lucia, cap. XXI (crollo)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Buona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pattern del capitolo XXI, basato su molte più frasi, è anche l'osservazione narrativamente più significativa dell'intera estensione.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CONSAPEVOLEZZA CRITICA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limiti del metodo, dichiarati esplicitamente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30552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4231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Dizionario limitato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89864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parole, scelta manuale e non esaustiva del lessico emotivo del romanzo.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2130552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9432" y="24231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Nessuna negazione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89864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“non provava gioia” viene comunque contata come positiva.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2130552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24231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Nessun contesto o ironia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89864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metodo conta parole isolate, senza capire il senso della frase.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279392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457200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Lessico moderno vs. ottocentesco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04748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dizionario riflette l'italiano contemporaneo, non sempre la prosa manzoniana.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402336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4279392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99432" y="457200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metodo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504748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confronto con un secondo metodo indipendente (es. un LLM via API).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402336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2752" y="4279392"/>
            <a:ext cx="201168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02752" y="457200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Campioni piccoli (estensione)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5047488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Alcuni picchi sui personaggi si basano su una sola frase.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1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Sì, l'andamento del tono emotivo rispecchia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momenti più drammatici del romanzo.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metodo automatico anche molto semplice, senza alcuna conoscenza della trama, individua correttamente uno dei momenti più cupi del romanzo. L'estensione sui personaggi rafforza il risultato, individuando anche la crisi dell'Innominato e di Lucia al capitolo XXI — con affidabilità verificata, non solo assunta.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611880"/>
            <a:ext cx="14630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del progetto non è la massima accuratezza possibile, ma la comprensione critica di cosa un metodo computazionale può e non può cogliere di un testo letterario.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B1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834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per l'attenzione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3520440"/>
            <a:ext cx="14630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Codice, dati, grafici e documentazione completa: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github.com/margheritabaravalle/promessi-sposi-emozioni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2026-10-12T20:13:06Z</dcterms:created>
  <dcterms:modified xsi:type="dcterms:W3CDTF">2026-10-12T20:13:07Z</dcterms:modified>
</cp:coreProperties>
</file>