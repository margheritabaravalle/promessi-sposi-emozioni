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user-data/outputs/ritratto_manzon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949440" y="0"/>
            <a:ext cx="524225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64008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PROGETTO D'ESAME — ANALISI COMPUTAZIONALE DEL TESTO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265176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tono della peste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42900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Mappare le emozioni nei Promessi Sposi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58368" y="4069080"/>
            <a:ext cx="14630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43434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a dizionario applicata capitolo per capitolo, per verificare se il tono emotivo del romanzo rispecchia i suoi momenti narrativi più drammatici.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6126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Margherita Baravalle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040880" y="6583680"/>
            <a:ext cx="5029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D9D2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Hayez, Ritratto di Alessandro Manzoni, 1841 — Pinacoteca di Brera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progetto di analisi del testo con il supporto dell'IA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3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Ambito umanistico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383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applica strumenti computazionali a un classico della letteratura italiana, I Promessi Sposi di Alessandro Manzoni.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3B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26280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2628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Codice con Claude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526280" y="3383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Python è stato scritto dialogando con Claude, seguendo il metodo della dispensa del corso: richiesta, esecuzione, ispezione, correzione.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863840" y="1965960"/>
            <a:ext cx="3291840" cy="265176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1B1F3B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138160" y="2240280"/>
            <a:ext cx="502920" cy="50292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13816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Metodo scientifico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8138160" y="33832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ricerca, ipotesi, raccolta e pulizia dei dati, verifica quantitativa e confronto con la letteratura di riferimento.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CONTESTO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L'ambiente di lavoro: VS Code e Claude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script è stato scritto ed eseguito in Visual Studio Code, con Claude usato come assistente per scrivere, spiegare e correggere il codice passo per passo.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450098" y="2276856"/>
            <a:ext cx="5291499" cy="3630168"/>
          </a:xfrm>
          <a:prstGeom prst="roundRect">
            <a:avLst>
              <a:gd name="adj" fmla="val 1008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127000" dist="38100" dir="5400000">
              <a:srgbClr val="1B1F3B">
                <a:alpha val="15000"/>
              </a:srgbClr>
            </a:outerShdw>
          </a:effectLst>
        </p:spPr>
      </p:sp>
      <p:pic>
        <p:nvPicPr>
          <p:cNvPr id="6" name="Image 0" descr="/mnt/user-data/outputs/screenshot_proget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04962" y="2331720"/>
            <a:ext cx="5181771" cy="35204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6016752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script analizza_sentiment.py aperto in VS Code: il dizionario di parole positive e negative, costruito a mano, visibile riga per riga nell'editor.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DOMANDA DI RICERCA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L'andamento emotivo dei capitoli rispecchia</a:t>
            </a:r>
            <a:endParaRPr lang="en-US" sz="2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momenti più drammatici del romanzo?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8745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automatico di sentiment analysis, per quanto semplice, è in grado di “riconoscere” questi momenti chiave tanto quanto un lettore umano che conosce la trama?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10881360" cy="2651760"/>
          </a:xfrm>
          <a:prstGeom prst="roundRect">
            <a:avLst>
              <a:gd name="adj" fmla="val 2069"/>
            </a:avLst>
          </a:prstGeom>
          <a:solidFill>
            <a:srgbClr val="231238"/>
          </a:solidFill>
          <a:ln w="12700">
            <a:solidFill>
              <a:srgbClr val="5B3A7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IPOTESI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611880"/>
            <a:ext cx="10241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capitoli corrispondenti agli eventi narrativamente più drammatici — in particolare i capitoli della peste (XXXI–XXXIV) — mostrano un punteggio emotivo nettamente più negativo rispetto ai capitoli circostanti, e il punteggio torna positivo verso la fine del romanzo, in corrispondenza della risoluzione della trama.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di lavoro, fase per fase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Dalla raccolta del testo fino all'estensione sul confronto tra personaggi, ogni fase produce un file ispezionabile prima di passare alla successiva.</a:t>
            </a:r>
            <a:endParaRPr lang="en-US" sz="1200" dirty="0"/>
          </a:p>
        </p:txBody>
      </p:sp>
      <p:pic>
        <p:nvPicPr>
          <p:cNvPr id="5" name="Image 0" descr="/mnt/user-data/outputs/schema_flus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468880"/>
            <a:ext cx="10515600" cy="21854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TENTATIVO 1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 Gutenberg: la fonte prevista non è raggiungibile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consegna indicava Project Gutenberg come fonte del testo. Lo script scarica_testo.py doveva scaricare il file direttamente da gutenberg.org, ma la richiesta non va mai a buon fine — come mostra lo screenshot del terminale.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160624" y="2276856"/>
            <a:ext cx="5870448" cy="2684987"/>
          </a:xfrm>
          <a:prstGeom prst="roundRect">
            <a:avLst>
              <a:gd name="adj" fmla="val 1362"/>
            </a:avLst>
          </a:prstGeom>
          <a:solidFill>
            <a:srgbClr val="1B1F3B"/>
          </a:solidFill>
          <a:ln/>
          <a:effectLst>
            <a:outerShdw sx="100000" sy="100000" kx="0" ky="0" algn="bl" rotWithShape="0" blurRad="127000" dist="38100" dir="5400000">
              <a:srgbClr val="1B1F3B">
                <a:alpha val="18000"/>
              </a:srgbClr>
            </a:outerShdw>
          </a:effectLst>
        </p:spPr>
      </p:sp>
      <p:pic>
        <p:nvPicPr>
          <p:cNvPr id="6" name="Image 0" descr="/mnt/user-data/outputs/screenshot_curl_err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5488" y="2331720"/>
            <a:ext cx="5760720" cy="2575259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40080" y="5025851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Screenshot: l'errore restituito dal comando curl, prova diretta dell'irraggiungibilità di gutenberg.org dalla rete usata.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640080" y="5364179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5483051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 E DECISIONE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5757371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confronto con google.com (raggiungibile) conferma che la rete funziona, ma gutenberg.org non è raggiungibile da qui: non è un problema risolvibile lato codice, si cerca quindi una fonte alternativa.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— TENTATIVO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3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 da Wikisource: due errori consecutivi</a:t>
            </a:r>
            <a:endParaRPr lang="en-US" sz="23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seconda fonte si prova il web scraping della pagina Wikisource dei Promessi Sposi con la libreria BeautifulSoup. Il tentativo fallisce due volte, per motivi diversi.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40080" y="2514600"/>
            <a:ext cx="525780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88900" dist="25400" dir="5400000">
              <a:srgbClr val="1B1F3B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788920"/>
            <a:ext cx="457200" cy="457200"/>
          </a:xfrm>
          <a:prstGeom prst="ellipse">
            <a:avLst/>
          </a:prstGeom>
          <a:solidFill>
            <a:srgbClr val="3B7A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36192" y="2788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 1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536192" y="3017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403 Forbidden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34290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sito blocca le richieste che non sembrano provenire da un browser reale.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914400" y="3931920"/>
            <a:ext cx="4709160" cy="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9959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3B7A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Soluzione: aggiunto un header User-Agent personalizzato alla richiesta → il sito risponde 200 OK.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63640" y="2514600"/>
            <a:ext cx="5257800" cy="1874520"/>
          </a:xfrm>
          <a:prstGeom prst="roundRect">
            <a:avLst>
              <a:gd name="adj" fmla="val 3415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88900" dist="25400" dir="5400000">
              <a:srgbClr val="1B1F3B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537960" y="2788920"/>
            <a:ext cx="457200" cy="457200"/>
          </a:xfrm>
          <a:prstGeom prst="ellipse">
            <a:avLst/>
          </a:prstGeom>
          <a:solidFill>
            <a:srgbClr val="B2352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3796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159752" y="27889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2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 2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7159752" y="3017520"/>
            <a:ext cx="4160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 testo trovato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42900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codice cerca il testo in un elemento HTML con classe "pagetext", ma la struttura reale della pagina è diversa.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537960" y="3931920"/>
            <a:ext cx="4709160" cy="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37960" y="3995928"/>
            <a:ext cx="4709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B235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selettore non trova nulla: senza ispezionare l'HTML reale della pagina, il tentativo viene abbandonato.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46177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Esito: la fonte viene abbandonata, non per un limite del metodo di scraping in sé, ma per il tempo che avrebbe richiesto correggere il selettore ispezionando manualmente l'HTML della pagina.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0 – 1 · TENTATIVO 3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terza fonte, e la preparazione del testo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728" cy="1188720"/>
          </a:xfrm>
          <a:prstGeom prst="roundRect">
            <a:avLst>
              <a:gd name="adj" fmla="val 16667"/>
            </a:avLst>
          </a:prstGeom>
          <a:solidFill>
            <a:srgbClr val="3B7A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28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 dei dati (riuscita)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21992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Testo completo in un file PDF (edizione Liber Liber), scaricato da un mirror universitario (Politecnico di Torino) ed estratto con la libreria pypdf. Stessa edizione prevista inizialmente, fonte diversa.</a:t>
            </a:r>
            <a:endParaRPr lang="en-US" sz="1130" dirty="0"/>
          </a:p>
        </p:txBody>
      </p:sp>
      <p:sp>
        <p:nvSpPr>
          <p:cNvPr id="7" name="Shape 5"/>
          <p:cNvSpPr/>
          <p:nvPr/>
        </p:nvSpPr>
        <p:spPr>
          <a:xfrm>
            <a:off x="640080" y="3291840"/>
            <a:ext cx="109728" cy="118872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6012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Pulizia del testo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3639312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Rimosso il materiale editoriale iniziale e le 309 righe con soli numeri di pagina residui dall'estrazione del PDF, mantenendo separati il testo grezzo e quello pulito.</a:t>
            </a:r>
            <a:endParaRPr lang="en-US" sz="113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109728" cy="1188720"/>
          </a:xfrm>
          <a:prstGeom prst="roundRect">
            <a:avLst>
              <a:gd name="adj" fmla="val 16667"/>
            </a:avLst>
          </a:prstGeom>
          <a:solidFill>
            <a:srgbClr val="1E276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60120" y="4663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Segmentazione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5056632"/>
            <a:ext cx="7818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3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testo è stato diviso nei suoi 38 capitoli individuando con un'espressione regolare le intestazioni “CAPITOLO” seguite da un numero romano — numero che corrisponde esattamente ai capitoli reali del romanzo.</a:t>
            </a:r>
            <a:endParaRPr lang="en-US" sz="1130" dirty="0"/>
          </a:p>
        </p:txBody>
      </p:sp>
      <p:sp>
        <p:nvSpPr>
          <p:cNvPr id="13" name="Shape 11"/>
          <p:cNvSpPr/>
          <p:nvPr/>
        </p:nvSpPr>
        <p:spPr>
          <a:xfrm>
            <a:off x="9153144" y="4690872"/>
            <a:ext cx="2221992" cy="1339242"/>
          </a:xfrm>
          <a:prstGeom prst="roundRect">
            <a:avLst>
              <a:gd name="adj" fmla="val 2048"/>
            </a:avLst>
          </a:prstGeom>
          <a:solidFill>
            <a:srgbClr val="1B1F3B"/>
          </a:solidFill>
          <a:ln/>
          <a:effectLst>
            <a:outerShdw sx="100000" sy="100000" kx="0" ky="0" algn="bl" rotWithShape="0" blurRad="76200" dist="25400" dir="5400000">
              <a:srgbClr val="1B1F3B">
                <a:alpha val="15000"/>
              </a:srgbClr>
            </a:outerShdw>
          </a:effectLst>
        </p:spPr>
      </p:sp>
      <p:pic>
        <p:nvPicPr>
          <p:cNvPr id="14" name="Image 0" descr="/mnt/user-data/outputs/screenshot_capitol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4727448"/>
            <a:ext cx="2148840" cy="126609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9189720" y="6030114"/>
            <a:ext cx="2148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B62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capitoli.json</a:t>
            </a:r>
            <a:endParaRPr lang="en-US" sz="800" dirty="0"/>
          </a:p>
        </p:txBody>
      </p:sp>
      <p:sp>
        <p:nvSpPr>
          <p:cNvPr id="16" name="Text 1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viene calcolato il punteggio emotivo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ogni capitolo, il testo viene diviso in parole (tokenizzazione) e confrontato con un dizionario di circa 150 parole italiane, positive e negative, scelto pensando al lessico della narrativa ottocentesca.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395728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scelta tra libreria locale e API di un modello è stata discussa con Claude, confrontando i pro e i contro di ciascuna opzione: la libreria a dizionario è stata preferita per semplicità, trasparenza e assenza di costi.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5212080" cy="2743200"/>
          </a:xfrm>
          <a:prstGeom prst="roundRect">
            <a:avLst>
              <a:gd name="adj" fmla="val 2000"/>
            </a:avLst>
          </a:prstGeom>
          <a:solidFill>
            <a:srgbClr val="3B1E5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91440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FORMULA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8862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punteggio = (pos − neg) / parole × 1000</a:t>
            </a:r>
            <a:endParaRPr lang="en-US" sz="155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754880"/>
            <a:ext cx="4663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conteggio è normalizzato ogni 1000 parole, per rendere confrontabili capitoli di lunghezza molto diversa.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3246120"/>
            <a:ext cx="534924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46520" y="34747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ESEMPIO REALE — CAPITOLO XXXI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3977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B7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6446520" y="4617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8183880" y="3977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23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617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921240" y="3977640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−9,28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9921240" y="461772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</a:t>
            </a:r>
            <a:endParaRPr lang="en-US" sz="1000" dirty="0"/>
          </a:p>
          <a:p>
            <a:pPr algn="ctr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— RISULTATI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L'andamento emotivo, capitolo per capitolo</a:t>
            </a:r>
            <a:endParaRPr lang="en-US" sz="2600" dirty="0"/>
          </a:p>
        </p:txBody>
      </p:sp>
      <p:pic>
        <p:nvPicPr>
          <p:cNvPr id="4" name="Image 0" descr="/mnt/user-data/outputs/grafico_senti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691640"/>
            <a:ext cx="9052560" cy="387705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40080" y="5715000"/>
            <a:ext cx="31546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" y="5715000"/>
            <a:ext cx="73152" cy="914400"/>
          </a:xfrm>
          <a:prstGeom prst="roundRect">
            <a:avLst/>
          </a:prstGeom>
          <a:solidFill>
            <a:srgbClr val="B235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22960" y="5779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B235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XXXI–XXXIV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6035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peste: i quattro capitoli più negativi del romanzo (fino a −9,28)</a:t>
            </a:r>
            <a:endParaRPr lang="en-US" sz="880" dirty="0"/>
          </a:p>
        </p:txBody>
      </p:sp>
      <p:sp>
        <p:nvSpPr>
          <p:cNvPr id="9" name="Shape 6"/>
          <p:cNvSpPr/>
          <p:nvPr/>
        </p:nvSpPr>
        <p:spPr>
          <a:xfrm>
            <a:off x="4434840" y="5715000"/>
            <a:ext cx="31546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34840" y="5715000"/>
            <a:ext cx="73152" cy="914400"/>
          </a:xfrm>
          <a:prstGeom prst="roundRect">
            <a:avLst/>
          </a:prstGeom>
          <a:solidFill>
            <a:srgbClr val="3B7A5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617720" y="5779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7A5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XXXV+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4617720" y="6035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tono torna positivo con l'avvio della risoluzione della trama</a:t>
            </a:r>
            <a:endParaRPr lang="en-US" sz="880" dirty="0"/>
          </a:p>
        </p:txBody>
      </p:sp>
      <p:sp>
        <p:nvSpPr>
          <p:cNvPr id="13" name="Shape 10"/>
          <p:cNvSpPr/>
          <p:nvPr/>
        </p:nvSpPr>
        <p:spPr>
          <a:xfrm>
            <a:off x="8229600" y="5715000"/>
            <a:ext cx="31546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229600" y="5715000"/>
            <a:ext cx="73152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8412480" y="5779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XXIII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0" y="60350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100"/>
              </a:lnSpc>
              <a:buNone/>
            </a:pPr>
            <a:r>
              <a:rPr lang="en-US" sz="88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Punteggio più alto (+6,8): liberazione di Lucia, non previsto in anticipo</a:t>
            </a:r>
            <a:endParaRPr lang="en-US" sz="88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ESTENSIONE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percorso emotivo di tre personaggi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 le frasi in cui compare il nome di Renzo, Lucia o l'Innominato, e ricalcolato lo stesso punteggio su quel sottoinsieme di testo.</a:t>
            </a:r>
            <a:endParaRPr lang="en-US" sz="1200" dirty="0"/>
          </a:p>
        </p:txBody>
      </p:sp>
      <p:pic>
        <p:nvPicPr>
          <p:cNvPr id="5" name="Image 0" descr="/mnt/user-data/outputs/grafico_personagg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94560"/>
            <a:ext cx="7955280" cy="341071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9006840" y="2194560"/>
            <a:ext cx="2514600" cy="3410712"/>
          </a:xfrm>
          <a:prstGeom prst="roundRect">
            <a:avLst>
              <a:gd name="adj" fmla="val 2182"/>
            </a:avLst>
          </a:prstGeom>
          <a:solidFill>
            <a:srgbClr val="3B1E5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235440" y="242316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CAPITOLI XIX–XXI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9235440" y="2926080"/>
            <a:ext cx="210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8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L'Innominato tocca il punto più alto (+10,2), poi crolla insieme a Lucia (−6,9 e −9,4) nel capitolo del rapimento e della notte di crisi che precede la sua conversione.</a:t>
            </a:r>
            <a:endParaRPr lang="en-US" sz="1080" dirty="0"/>
          </a:p>
        </p:txBody>
      </p:sp>
      <p:sp>
        <p:nvSpPr>
          <p:cNvPr id="9" name="Text 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RIGORE METODOLOGICO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 tutti i picchi sono ugualmente affidabili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459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 di trarre conclusioni, è stato verificato quante frasi sostenessero ciascuna osservazione: pochi dati rendono il punteggio molto instabile.</a:t>
            </a:r>
            <a:endParaRPr lang="en-US" sz="1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423160"/>
          <a:ext cx="10881360" cy="2377440"/>
        </p:xfrm>
        <a:graphic>
          <a:graphicData uri="http://schemas.openxmlformats.org/drawingml/2006/table">
            <a:tbl>
              <a:tblPr/>
              <a:tblGrid>
                <a:gridCol w="4937760"/>
                <a:gridCol w="1984248"/>
                <a:gridCol w="1984248"/>
                <a:gridCol w="1975104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Osservazione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Frasi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Affidabilità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Renzo, cap. X (punto basso)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B2352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Bassissima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Lucia, cap. V (punto basso)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C97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Bassa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Innominato, cap. XXI (crollo)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8A8A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Discreta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Lucia, cap. XXI (crollo)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3B7A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Buona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3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40080" y="507492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pattern del capitolo XXI, basato su molte più frasi, è anche l'osservazione narrativamente più significativa dell'intera estensione.</a:t>
            </a:r>
            <a:endParaRPr lang="en-US" sz="115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LETTERATURA SCIENTIFICA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metodo coerente con la ricerca esistente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5257800" cy="3749040"/>
          </a:xfrm>
          <a:prstGeom prst="roundRect">
            <a:avLst>
              <a:gd name="adj" fmla="val 170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88900" dist="25400" dir="5400000">
              <a:srgbClr val="1B1F3B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22402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60120" y="2359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2402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Reagan et al., 2016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29260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emotional arcs of stories are dominated by six basic shapes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960120" y="3703320"/>
            <a:ext cx="4617720" cy="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60120" y="3840480"/>
            <a:ext cx="4617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3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Sentiment analysis lessicale applicata a migliaia di opere letterarie: la maggior parte delle storie segue un numero limitato di “forme” emotive ricorrenti — lo stesso tipo di andamento cercato in questo progetto.</a:t>
            </a:r>
            <a:endParaRPr lang="en-US" sz="1130" dirty="0"/>
          </a:p>
        </p:txBody>
      </p:sp>
      <p:sp>
        <p:nvSpPr>
          <p:cNvPr id="11" name="Shape 9"/>
          <p:cNvSpPr/>
          <p:nvPr/>
        </p:nvSpPr>
        <p:spPr>
          <a:xfrm>
            <a:off x="6263640" y="1920240"/>
            <a:ext cx="5257800" cy="3749040"/>
          </a:xfrm>
          <a:prstGeom prst="roundRect">
            <a:avLst>
              <a:gd name="adj" fmla="val 170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  <a:effectLst>
            <a:outerShdw sx="100000" sy="100000" kx="0" ky="0" algn="bl" rotWithShape="0" blurRad="88900" dist="25400" dir="5400000">
              <a:srgbClr val="1B1F3B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2240280"/>
            <a:ext cx="548640" cy="5486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0" y="23591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0" y="2240280"/>
            <a:ext cx="3977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Rebora, 2020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0" y="2926080"/>
            <a:ext cx="4617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Emotions in Reading Pirandello. An Experiment with Sentiment Analysis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583680" y="3703320"/>
            <a:ext cx="4617720" cy="0"/>
          </a:xfrm>
          <a:prstGeom prst="line">
            <a:avLst/>
          </a:prstGeom>
          <a:noFill/>
          <a:ln w="12700">
            <a:solidFill>
              <a:srgbClr val="E3E7F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3840480"/>
            <a:ext cx="4617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3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Esperimento su un testo letterario italiano, con studenti che annotano manualmente il sentiment di ogni paragrafo: conferma utilità e limiti di questi metodi in lingua italiana.</a:t>
            </a:r>
            <a:endParaRPr lang="en-US" sz="113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CONSAPEVOLEZZA CRITICA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limiti del metodo, dichiarati esplicitamente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96112" y="213055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42316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Dizionario limitato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89864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parole, scelta manuale e non esaustiva del lessico emotivo del romanzo.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43400" y="187452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99432" y="213055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99432" y="242316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Nessuna negazione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289864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“non provava gioia” viene comunque contata come positiva.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87452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02752" y="213055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302752" y="242316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Nessun contesto o ironia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302752" y="289864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metodo conta parole isolate, senza capire il senso della frase.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402336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6112" y="427939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96112" y="4572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Lessico moderno vs. ottocentesco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504748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dizionario riflette l'italiano contemporaneo, non sempre la prosa manzoniana.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43400" y="402336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9432" y="427939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99432" y="4572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metodo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4599432" y="504748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 confronto con un secondo metodo indipendente (es. un LLM via API).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046720" y="4023360"/>
            <a:ext cx="342900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E3E7F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02752" y="4279392"/>
            <a:ext cx="201168" cy="201168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302752" y="4572000"/>
            <a:ext cx="2916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5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Campioni piccoli (estensione)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302752" y="5047488"/>
            <a:ext cx="291693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5B62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Alcuni picchi sui personaggi si basano su una sola frase.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FC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115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04672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Sì, l'andamento del tono emotivo rispecchia</a:t>
            </a:r>
            <a:endParaRPr lang="en-US" sz="24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momenti più drammatici del romanzo.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148840"/>
            <a:ext cx="10424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metodo automatico anche molto semplice, senza alcuna conoscenza della trama, individua correttamente uno dei momenti più cupi del romanzo. L'estensione sui personaggi rafforza il risultato, individuando anche la crisi dell'Innominato e di Lucia al capitolo XXI — con affidabilità verificata, non solo assunta.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58368" y="3611880"/>
            <a:ext cx="14630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8862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valore del progetto non è la massima accuratezza possibile, ma la comprensione critica di cosa un metodo computazionale può e non può cogliere di un testo letterario.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3B1E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83464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Grazie per l'attenzione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58368" y="3520440"/>
            <a:ext cx="1463040" cy="0"/>
          </a:xfrm>
          <a:prstGeom prst="line">
            <a:avLst/>
          </a:prstGeom>
          <a:noFill/>
          <a:ln w="25400">
            <a:solidFill>
              <a:srgbClr val="C9A22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3703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Codice, dati, grafici e documentazione completa: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023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9A22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github.com/margheritabaravalle/promessi-sposi-emozioni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7D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2026-09-29T15:14:57Z</dcterms:created>
  <dcterms:modified xsi:type="dcterms:W3CDTF">2026-09-29T15:14:57Z</dcterms:modified>
</cp:coreProperties>
</file>